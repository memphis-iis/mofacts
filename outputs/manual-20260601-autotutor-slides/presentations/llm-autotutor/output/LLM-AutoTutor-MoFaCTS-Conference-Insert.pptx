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33af46922f4e59" /><Relationship Type="http://schemas.openxmlformats.org/officeDocument/2006/relationships/extended-properties" Target="/docProps/app.xml" Id="R35b0e4c8aacd499e" /><Relationship Type="http://schemas.openxmlformats.org/officeDocument/2006/relationships/officeDocument" Target="/ppt/presentation.xml" Id="R21fb1a8ca6e543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b085da46354b6e"/>
  </p:sldMasterIdLst>
  <p:notesMasterIdLst>
    <p:notesMasterId xmlns:r="http://schemas.openxmlformats.org/officeDocument/2006/relationships" r:id="R8bc461acde7545a7"/>
  </p:notesMasterIdLst>
  <p:sldIdLst>
    <p:sldId xmlns:r="http://schemas.openxmlformats.org/officeDocument/2006/relationships" id="256" r:id="Rf4304f90e96e4f16"/>
    <p:sldId xmlns:r="http://schemas.openxmlformats.org/officeDocument/2006/relationships" id="257" r:id="R4a22329a24d946f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085da46354b6e" /><Relationship Type="http://schemas.openxmlformats.org/officeDocument/2006/relationships/theme" Target="/ppt/theme/theme1.xml" Id="R936bd2311e7340c5" /><Relationship Type="http://schemas.openxmlformats.org/officeDocument/2006/relationships/notesMaster" Target="/ppt/notesMasters/notesMaster1.xml" Id="R8bc461acde7545a7" /><Relationship Type="http://schemas.openxmlformats.org/officeDocument/2006/relationships/presProps" Target="/ppt/presProps.xml" Id="R525e14d180a84835" /><Relationship Type="http://schemas.openxmlformats.org/officeDocument/2006/relationships/viewProps" Target="/ppt/viewProps.xml" Id="R1cea23d378b04453" /><Relationship Type="http://schemas.openxmlformats.org/officeDocument/2006/relationships/tableStyles" Target="/ppt/tableStyles.xml" Id="Rd21e0a47a6a747eb" /><Relationship Type="http://schemas.openxmlformats.org/officeDocument/2006/relationships/slide" Target="/ppt/slides/slide1.xml" Id="Rf4304f90e96e4f16" /><Relationship Type="http://schemas.openxmlformats.org/officeDocument/2006/relationships/slide" Target="/ppt/slides/slide2.xml" Id="R4a22329a24d946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316781e46ef49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dd098df55044cf" /><Relationship Type="http://schemas.openxmlformats.org/officeDocument/2006/relationships/notesMaster" Target="/ppt/notesMasters/notesMaster1.xml" Id="Re13ac3572d084a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55f14f7fbe470e" /><Relationship Type="http://schemas.openxmlformats.org/officeDocument/2006/relationships/notesMaster" Target="/ppt/notesMasters/notesMaster1.xml" Id="R590c253f5af043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ff2921f6da49e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3e487c782a147e3" /><Relationship Type="http://schemas.openxmlformats.org/officeDocument/2006/relationships/slideLayout" Target="/ppt/slideLayouts/slideLayout2.xml" Id="Rb28618391fb84f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8618391fb84f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d0f35c907e47fb" /><Relationship Type="http://schemas.openxmlformats.org/officeDocument/2006/relationships/image" Target="/ppt/media/image.png" Id="R5f29fa9db8064907" /><Relationship Type="http://schemas.openxmlformats.org/officeDocument/2006/relationships/notesSlide" Target="/ppt/notesSlides/notesSlide1.xml" Id="R3fe1b7f5a8ad47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07c53431e14165" /><Relationship Type="http://schemas.openxmlformats.org/officeDocument/2006/relationships/image" Target="/ppt/media/image2.png" Id="R9defa2fcd5ee4819" /><Relationship Type="http://schemas.openxmlformats.org/officeDocument/2006/relationships/notesSlide" Target="/ppt/notesSlides/notesSlide2.xml" Id="R3a14640320a7461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5509E0-C671-4210-9124-0DAC8B9C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0">
            <a:solidFill>
              <a:srgbClr val="FBFA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BFEAB-9529-4CED-BFA4-5B23C338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9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9E"/>
                </a:solidFill>
                <a:latin typeface="Aptos"/>
                <a:ea typeface="Aptos"/>
                <a:cs typeface="Aptos"/>
              </a:rPr>
              <a:t>LLM AUTOTUTOR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9ED3F-BAED-4F41-87DF-6E259437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66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AutoTutor 2.0 keeps the tutoring policy explicit while letting the LLM handle language.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FD684-73B6-4317-A61A-30B99359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590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Each learner turn is scored against authored expectations and misconceptions, routed through a planner, then realized as a tutor message.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AB30E-CC7D-4BD7-8B2D-EA85447F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2473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999B9-D65C-47D3-814C-FD1BA719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Learner 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B1FC5-45B0-4466-A4B4-158E0FEE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819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93C0F-6CC9-460E-A996-95363D38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7622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18D69-FA1E-4725-AD1D-BCD55898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717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8A5A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45514-1308-4796-AE3B-E8679451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860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59AC6-FE91-47EC-9B7C-3586FA37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0584D-6A09-4ED3-9420-2110A98D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622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26B28-ADAE-4AC5-8823-7218D51A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1430">
            <a:solidFill>
              <a:srgbClr val="2F5F9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99E33-6398-458D-B944-F4E7E4DF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Select 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D799F-56C8-4B2F-8A65-20BAA777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35DCC-A0FF-4C6A-8294-744FAB94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85849-C0C4-4D9A-9326-A7549B4B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717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11430">
            <a:solidFill>
              <a:srgbClr val="5B4B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097724-E9A1-4C71-9103-219162CE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Tutor move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44B9B-98CD-420D-80BD-1A8F5E61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681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A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724FF-EE22-43A0-AC9C-C92C63FC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2F5F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039CD0-6D95-461A-ADFB-1812B968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5F9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9E"/>
                </a:solidFill>
                <a:latin typeface="Aptos"/>
                <a:ea typeface="Aptos"/>
                <a:cs typeface="Aptos"/>
              </a:rPr>
              <a:t>learner question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A06BDA-BDC2-4E17-A45B-71706B12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337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answer from authored content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80A0E3-01D4-488F-BC41-31CBB014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681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ADD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1D4A8E-2ABA-4C94-9378-A5123FE6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8A5A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680673-510A-4B26-976D-7DDDEB4D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A5A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5A00"/>
                </a:solidFill>
                <a:latin typeface="Aptos"/>
                <a:ea typeface="Aptos"/>
                <a:cs typeface="Aptos"/>
              </a:rPr>
              <a:t>misconception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A3EBC6-6C9C-4CF1-9DB4-F4174E86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671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repair: hint -&gt; prompt -&gt; assertion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5FCF24-05ED-45E9-9757-432C4B3A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681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ADD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8A098B-B06C-4609-B5B4-526AD823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2473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4AF60E-FD97-4825-A994-BC23633F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3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734D"/>
                </a:solidFill>
                <a:latin typeface="Aptos"/>
                <a:ea typeface="Aptos"/>
                <a:cs typeface="Aptos"/>
              </a:rPr>
              <a:t>expectation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4D088A-3FEB-4089-B56D-14DC265C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005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pump / hint / prompt / assertion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C9245D-FD1F-4056-86DC-69673661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681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ADD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17384F-78ED-492B-B155-F9729989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solidFill>
              <a:srgbClr val="5B4BA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B5B59F-A705-4F40-8D89-B4234247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4B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4BA8"/>
                </a:solidFill>
                <a:latin typeface="Aptos"/>
                <a:ea typeface="Aptos"/>
                <a:cs typeface="Aptos"/>
              </a:rPr>
              <a:t>completion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7F58C4-0FAC-4E41-9907-63525AB8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339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final answer prompt -&gt; summary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347A1D-EC7F-4C7D-95F9-0007EE05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1000"/>
            <a:ext cx="24765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E0F6E1-CA2D-4190-9535-A4763AA8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85775"/>
            <a:ext cx="226695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9fa9db8064907"/>
          <a:srcRect xmlns:a="http://schemas.openxmlformats.org/drawingml/2006/main" l="3006" t="0" r="30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9175" y="485775"/>
            <a:ext cx="2266950" cy="52197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796BA2-B93A-43E9-B844-462E589D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9817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Real mobile AutoTutor session: progress updates after scoring and planning.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B0C5AE-A79F-4DC9-ADC4-EF5DB74A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34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Implemented locally in MoFaCTS as a configurable unit type with persisted turn state.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80F69C-E0A8-43FA-BAAE-A0831CF2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436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01 / 02</a:t>
            </a:r>
          </a:p>
        </p:txBody>
      </p:sp>
    </p:spTree>
    <p:extLst>
      <p:ext uri="{BB962C8B-B14F-4D97-AF65-F5344CB8AC3E}">
        <p14:creationId xmlns:p14="http://schemas.microsoft.com/office/powerpoint/2010/main" val="2969461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937B7A-7758-4C39-843C-5C72F493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0">
            <a:solidFill>
              <a:srgbClr val="FBFA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6559A-4442-4BA1-8138-8E803130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4B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4BA8"/>
                </a:solidFill>
                <a:latin typeface="Aptos"/>
                <a:ea typeface="Aptos"/>
                <a:cs typeface="Aptos"/>
              </a:rPr>
              <a:t>MOFACTS 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867E4-9E23-4A62-8AAA-C4E5DEC4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676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research idea becomes a deployable, resumable learning unit.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8E5C3-C569-4362-8963-895259B9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28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MoFaCTS separates authored pedagogy from app infrastructure: the planner owns tutoring decisions; the app owns launch, LLM calls, history, and resume.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AF196-7792-4A8C-BD2A-C0A0D7DB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1430">
            <a:solidFill>
              <a:srgbClr val="2F5F9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B200D-5B2A-4A71-B86C-F7B087EF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5F9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5F9E"/>
                </a:solidFill>
                <a:latin typeface="Aptos"/>
                <a:ea typeface="Aptos"/>
                <a:cs typeface="Aptos"/>
              </a:rPr>
              <a:t>AUTHORED TDF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37C6B-CB0A-4B71-9E99-9826D92A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689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Script and runtime settings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9C50A-33AD-43D4-B3B2-5E789705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670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expectations, misconceptions, prompts, graduation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50E33-9145-4BAA-9F81-18922908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E"/>
          </a:solidFill>
          <a:ln xmlns:a="http://schemas.openxmlformats.org/drawingml/2006/main" w="0">
            <a:solidFill>
              <a:srgbClr val="2F5F9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398B4-3B76-44B0-8C7E-B16831C5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670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coverage thresholds, max turns, model and temperature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3F76D-1D86-45AF-8F64-22D116BD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E"/>
          </a:solidFill>
          <a:ln xmlns:a="http://schemas.openxmlformats.org/drawingml/2006/main" w="0">
            <a:solidFill>
              <a:srgbClr val="2F5F9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C485C-94DF-48DE-A9B7-B421DD57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2473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4F84E-6F79-4713-A426-6ED5FB12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73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734D"/>
                </a:solidFill>
                <a:latin typeface="Aptos"/>
                <a:ea typeface="Aptos"/>
                <a:cs typeface="Aptos"/>
              </a:rPr>
              <a:t>LEARNING COMPONENT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08FF0-63EB-40C8-BB0D-3DB557A7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689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AutoTutor planner and state contracts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4A94E-B082-44A9-B779-79C1AF99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670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score merge -&gt; target selection -&gt; move selection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30C65-6F50-4ACF-B0AE-4097316C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34D"/>
          </a:solidFill>
          <a:ln xmlns:a="http://schemas.openxmlformats.org/drawingml/2006/main" w="0">
            <a:solidFill>
              <a:srgbClr val="2473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D3721-42D7-48AA-8488-68540DA4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670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saved state, saved history, and end-state semantics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C7D06C-AFE4-4FD5-98B9-AD9FCBEA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34D"/>
          </a:solidFill>
          <a:ln xmlns:a="http://schemas.openxmlformats.org/drawingml/2006/main" w="0">
            <a:solidFill>
              <a:srgbClr val="2473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D2E5E6-1AD4-4009-8C36-EAC2C63F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8A5A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2FAE64-002B-4674-893E-56125376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5A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A5A00"/>
                </a:solidFill>
                <a:latin typeface="Aptos"/>
                <a:ea typeface="Aptos"/>
                <a:cs typeface="Aptos"/>
              </a:rPr>
              <a:t>MOFACTS 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15F21-78F3-40DD-B73C-E216983A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689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Svelte/Meteor runtime shell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74840D-E5E4-4888-8CA4-29B38BBE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670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mobile chat UI, OpenRouter calls, session publication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22C34E-BD60-4A82-92D9-53FEA5C5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0">
            <a:solidFill>
              <a:srgbClr val="8A5A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D71FC5-DE57-4AEF-9923-A1EC870C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76950"/>
            <a:ext cx="670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canonical history persistence and resume reconstruction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3E4B17-0465-4E8A-8574-3C800F7B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6267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0">
            <a:solidFill>
              <a:srgbClr val="8A5A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4DF7B-EBC7-4B49-8271-E07F0F2C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62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0FE005-BE53-45EA-88A3-187F48B9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814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7E3284-553B-409D-8F6E-99AE3DF3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149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885925-BE83-4B68-BAF8-662D8E76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9339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7E8A18-9AE2-45EF-AE1B-2A296EEF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933450"/>
            <a:ext cx="2362200" cy="512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48483E-BFCC-4D1B-9543-6E19CC5A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028700"/>
            <a:ext cx="2171700" cy="493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fa2fcd5ee4819"/>
          <a:srcRect xmlns:a="http://schemas.openxmlformats.org/drawingml/2006/main" l="1387" t="0" r="13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0600" y="1028700"/>
            <a:ext cx="2171700" cy="49339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3C655E-F041-494F-9B0F-ECBEAC34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11430">
            <a:solidFill>
              <a:srgbClr val="5B4B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523792-C5B8-4559-AE0F-C7C2149A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4B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4BA8"/>
                </a:solidFill>
                <a:latin typeface="Aptos"/>
                <a:ea typeface="Aptos"/>
                <a:cs typeface="Aptos"/>
              </a:rPr>
              <a:t>resume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C7D9B8-9BE3-4998-934F-60E0EE0B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2473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D2404E-C367-4B99-8386-796E4094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04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73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34D"/>
                </a:solidFill>
                <a:latin typeface="Aptos"/>
                <a:ea typeface="Aptos"/>
                <a:cs typeface="Aptos"/>
              </a:rPr>
              <a:t>progress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A5692B-F5CA-4190-B8E4-BE7A925C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8A5A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01C4F1-2770-4B42-9387-2DBFB014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5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5A00"/>
                </a:solidFill>
                <a:latin typeface="Aptos"/>
                <a:ea typeface="Aptos"/>
                <a:cs typeface="Aptos"/>
              </a:rPr>
              <a:t>cost cap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4A3820-3DE7-4EF1-AB32-E367642C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2103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Completion, summary, and progress in the real mobile learner surface.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21E4A9-0C32-4D53-B549-D2C2FF30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436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02 / 02</a:t>
            </a:r>
          </a:p>
        </p:txBody>
      </p:sp>
    </p:spTree>
    <p:extLst>
      <p:ext uri="{BB962C8B-B14F-4D97-AF65-F5344CB8AC3E}">
        <p14:creationId xmlns:p14="http://schemas.microsoft.com/office/powerpoint/2010/main" val="1452507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2026-06-01T18:57:47.1840000Z</dcterms:created>
  <dcterms:modified xsi:type="dcterms:W3CDTF">2026-06-01T18:57:47.1840000Z</dcterms:modified>
</coreProperties>
</file>